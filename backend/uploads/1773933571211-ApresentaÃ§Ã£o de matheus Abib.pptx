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9DD5E-D17B-4B32-ABFD-CDBAE16B59BE}" v="284" dt="2020-07-14T16:50:01.563"/>
    <p1510:client id="{7C64EA87-ABE8-4216-83DC-FCD336046E4A}" v="188" dt="2020-07-13T19:35:02.072"/>
    <p1510:client id="{7D41E322-E045-49C5-B66A-D54F83EEA6C6}" v="95" dt="2020-07-14T17:19:12.466"/>
    <p1510:client id="{7E2585C2-3CCE-4134-B72C-76AFFB2DFD13}" v="369" dt="2020-07-14T15:34:24.843"/>
    <p1510:client id="{FF3923D2-7509-43B5-99DA-604901614C87}" v="254" dt="2020-07-14T18:09:43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08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48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0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9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4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6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41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2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1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71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841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038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31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128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058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3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9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3535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8A06FE7-765E-4A41-B621-54B40455DCD7}"/>
              </a:ext>
            </a:extLst>
          </p:cNvPr>
          <p:cNvSpPr txBox="1"/>
          <p:nvPr/>
        </p:nvSpPr>
        <p:spPr>
          <a:xfrm>
            <a:off x="3559833" y="468703"/>
            <a:ext cx="21470255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chemeClr val="tx1">
                    <a:lumMod val="65000"/>
                  </a:schemeClr>
                </a:solidFill>
                <a:ea typeface="+mn-lt"/>
                <a:cs typeface="+mn-lt"/>
              </a:rPr>
              <a:t>Egito, Grécia e Roma antiga</a:t>
            </a:r>
            <a:r>
              <a:rPr lang="pt-BR" dirty="0">
                <a:solidFill>
                  <a:schemeClr val="tx1">
                    <a:lumMod val="65000"/>
                  </a:schemeClr>
                </a:solidFill>
                <a:cs typeface="Calibri"/>
              </a:rPr>
              <a:t> </a:t>
            </a:r>
            <a:endParaRPr lang="pt-BR">
              <a:solidFill>
                <a:schemeClr val="tx1">
                  <a:lumMod val="65000"/>
                </a:schemeClr>
              </a:solidFill>
            </a:endParaRPr>
          </a:p>
        </p:txBody>
      </p:sp>
      <p:pic>
        <p:nvPicPr>
          <p:cNvPr id="3" name="Imagem 3" descr="Pessoas andando de cavalo no deserto&#10;&#10;Descrição gerada automaticamente">
            <a:extLst>
              <a:ext uri="{FF2B5EF4-FFF2-40B4-BE49-F238E27FC236}">
                <a16:creationId xmlns:a16="http://schemas.microsoft.com/office/drawing/2014/main" id="{F46E4322-7D9B-42B8-8F7F-416221D6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14" y="1810956"/>
            <a:ext cx="3045123" cy="1870237"/>
          </a:xfrm>
          <a:prstGeom prst="rect">
            <a:avLst/>
          </a:prstGeom>
        </p:spPr>
      </p:pic>
      <p:pic>
        <p:nvPicPr>
          <p:cNvPr id="4" name="Imagem 4" descr="Cidade com prédios e árvores&#10;&#10;Descrição gerada automaticamente">
            <a:extLst>
              <a:ext uri="{FF2B5EF4-FFF2-40B4-BE49-F238E27FC236}">
                <a16:creationId xmlns:a16="http://schemas.microsoft.com/office/drawing/2014/main" id="{05306FDD-1869-4861-AADA-6B1ABE812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985" y="2507628"/>
            <a:ext cx="3548331" cy="2087155"/>
          </a:xfrm>
          <a:prstGeom prst="rect">
            <a:avLst/>
          </a:prstGeom>
        </p:spPr>
      </p:pic>
      <p:pic>
        <p:nvPicPr>
          <p:cNvPr id="5" name="Imagem 5" descr="Uma imagem contendo edifício, ao ar livre, velho, grande&#10;&#10;Descrição gerada automaticamente">
            <a:extLst>
              <a:ext uri="{FF2B5EF4-FFF2-40B4-BE49-F238E27FC236}">
                <a16:creationId xmlns:a16="http://schemas.microsoft.com/office/drawing/2014/main" id="{92370654-11E3-432F-94A6-DF68C523E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268" y="1807271"/>
            <a:ext cx="2743200" cy="18776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4762FCF-62F8-455E-8C0A-4007F183F504}"/>
              </a:ext>
            </a:extLst>
          </p:cNvPr>
          <p:cNvSpPr/>
          <p:nvPr/>
        </p:nvSpPr>
        <p:spPr>
          <a:xfrm>
            <a:off x="353448" y="368092"/>
            <a:ext cx="11458753" cy="6153506"/>
          </a:xfrm>
          <a:prstGeom prst="rect">
            <a:avLst/>
          </a:prstGeom>
          <a:noFill/>
          <a:ln w="57150">
            <a:solidFill>
              <a:schemeClr val="tx1">
                <a:lumMod val="85000"/>
              </a:schemeClr>
            </a:solidFill>
            <a:prstDash val="soli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BFBFBF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83F04D-054B-499A-92D4-09F441FCDA8D}"/>
              </a:ext>
            </a:extLst>
          </p:cNvPr>
          <p:cNvSpPr txBox="1"/>
          <p:nvPr/>
        </p:nvSpPr>
        <p:spPr>
          <a:xfrm>
            <a:off x="4391924" y="5959056"/>
            <a:ext cx="72433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1">
                    <a:lumMod val="75000"/>
                  </a:schemeClr>
                </a:solidFill>
              </a:rPr>
              <a:t>Matheus Abib  n°18  1° ano 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2935EBD-73D9-4A37-B03A-A3D150C2E9D7}"/>
              </a:ext>
            </a:extLst>
          </p:cNvPr>
          <p:cNvSpPr/>
          <p:nvPr/>
        </p:nvSpPr>
        <p:spPr>
          <a:xfrm>
            <a:off x="707367" y="1591574"/>
            <a:ext cx="3292414" cy="2300376"/>
          </a:xfrm>
          <a:prstGeom prst="round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09F2A4-EF94-44B7-9635-E848FEE4D4E7}"/>
              </a:ext>
            </a:extLst>
          </p:cNvPr>
          <p:cNvSpPr/>
          <p:nvPr/>
        </p:nvSpPr>
        <p:spPr>
          <a:xfrm>
            <a:off x="4387072" y="2323921"/>
            <a:ext cx="3723734" cy="2444149"/>
          </a:xfrm>
          <a:prstGeom prst="round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A8094BE-66CB-4663-B136-74E288DA6ABB}"/>
              </a:ext>
            </a:extLst>
          </p:cNvPr>
          <p:cNvSpPr/>
          <p:nvPr/>
        </p:nvSpPr>
        <p:spPr>
          <a:xfrm>
            <a:off x="8282436" y="1589778"/>
            <a:ext cx="3105509" cy="2300375"/>
          </a:xfrm>
          <a:prstGeom prst="round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48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1E9B962-69A1-4742-AB23-C555C5F30A8A}"/>
              </a:ext>
            </a:extLst>
          </p:cNvPr>
          <p:cNvSpPr txBox="1"/>
          <p:nvPr/>
        </p:nvSpPr>
        <p:spPr>
          <a:xfrm>
            <a:off x="4868173" y="64123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sz="2800" b="1" u="sng" dirty="0">
              <a:solidFill>
                <a:schemeClr val="tx1">
                  <a:lumMod val="75000"/>
                </a:schemeClr>
              </a:solidFill>
              <a:latin typeface="Book Antiqua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DD1482-AB24-4019-829A-0A90E5278242}"/>
              </a:ext>
            </a:extLst>
          </p:cNvPr>
          <p:cNvSpPr txBox="1"/>
          <p:nvPr/>
        </p:nvSpPr>
        <p:spPr>
          <a:xfrm>
            <a:off x="856891" y="1503872"/>
            <a:ext cx="27432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b="1" dirty="0">
              <a:solidFill>
                <a:schemeClr val="tx1">
                  <a:lumMod val="95000"/>
                </a:schemeClr>
              </a:solidFill>
              <a:latin typeface="OpenSans"/>
            </a:endParaRP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O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faraó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contratava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artistas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para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desenhar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pintar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paredes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das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pirâmides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Essas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pinturas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detalhavam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vida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deles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seu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entorno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de modo que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essa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registra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parte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história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Egito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</a:p>
        </p:txBody>
      </p:sp>
      <p:pic>
        <p:nvPicPr>
          <p:cNvPr id="4" name="Imagem 4" descr="Uma imagem contendo edifício, no interior, sujo, velho&#10;&#10;Descrição gerada automaticamente">
            <a:extLst>
              <a:ext uri="{FF2B5EF4-FFF2-40B4-BE49-F238E27FC236}">
                <a16:creationId xmlns:a16="http://schemas.microsoft.com/office/drawing/2014/main" id="{6D034293-FA89-41A0-B439-C881CD2C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76" y="3961824"/>
            <a:ext cx="3030747" cy="206861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5A960F2-C6D3-4274-96C5-EECF9F915CC3}"/>
              </a:ext>
            </a:extLst>
          </p:cNvPr>
          <p:cNvSpPr txBox="1"/>
          <p:nvPr/>
        </p:nvSpPr>
        <p:spPr>
          <a:xfrm>
            <a:off x="3646097" y="3516702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era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produzida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forma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padronizada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dava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espaço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para 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criatividade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</a:p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Dessa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maneira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foi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realizada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uma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 </a:t>
            </a:r>
            <a:r>
              <a:rPr lang="en-US" sz="1600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anônima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pois o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importante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era a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perfeita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realização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das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técnicas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executadas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o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estilo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dos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artista</a:t>
            </a:r>
            <a:r>
              <a:rPr lang="en-US" sz="1600" err="1">
                <a:solidFill>
                  <a:srgbClr val="404040"/>
                </a:solidFill>
                <a:latin typeface="OpenSans"/>
              </a:rPr>
              <a:t>s</a:t>
            </a:r>
            <a:r>
              <a:rPr lang="en-US" sz="1600" dirty="0">
                <a:solidFill>
                  <a:srgbClr val="404040"/>
                </a:solidFill>
                <a:latin typeface="OpenSans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8DF201-D2E8-4320-8DE5-8813505C2F55}"/>
              </a:ext>
            </a:extLst>
          </p:cNvPr>
          <p:cNvSpPr txBox="1"/>
          <p:nvPr/>
        </p:nvSpPr>
        <p:spPr>
          <a:xfrm>
            <a:off x="6881003" y="4192438"/>
            <a:ext cx="492855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Características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 Pintura </a:t>
            </a: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Egípcia</a:t>
            </a:r>
            <a:endParaRPr lang="en-US" b="1" dirty="0">
              <a:solidFill>
                <a:schemeClr val="tx1">
                  <a:lumMod val="95000"/>
                </a:schemeClr>
              </a:solidFill>
              <a:latin typeface="OpenSans"/>
            </a:endParaRPr>
          </a:p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Existiam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muitas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normas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serem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seguidas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pintura e no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baixo-revelo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produzidos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no Antigo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Egito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:</a:t>
            </a:r>
          </a:p>
          <a:p>
            <a:pPr>
              <a:buChar char="•"/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Ausência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três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dimensões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Ausência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sombra;</a:t>
            </a:r>
          </a:p>
          <a:p>
            <a:pPr>
              <a:buChar char="•"/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Utilização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cores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convencionais</a:t>
            </a:r>
            <a:r>
              <a:rPr lang="en-US" dirty="0">
                <a:solidFill>
                  <a:srgbClr val="404040"/>
                </a:solidFill>
                <a:latin typeface="OpenSans"/>
              </a:rPr>
              <a:t>.</a:t>
            </a:r>
          </a:p>
        </p:txBody>
      </p:sp>
      <p:pic>
        <p:nvPicPr>
          <p:cNvPr id="7" name="Imagem 7" descr="Uma imagem contendo de madeira, coberto, mesa, placa&#10;&#10;Descrição gerada automaticamente">
            <a:extLst>
              <a:ext uri="{FF2B5EF4-FFF2-40B4-BE49-F238E27FC236}">
                <a16:creationId xmlns:a16="http://schemas.microsoft.com/office/drawing/2014/main" id="{2FF8A94F-35B4-46AB-83C7-614D8C1DB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211" y="1574074"/>
            <a:ext cx="2743199" cy="218585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97FA5CA-85E8-401C-8F64-DE4B3216E356}"/>
              </a:ext>
            </a:extLst>
          </p:cNvPr>
          <p:cNvSpPr txBox="1"/>
          <p:nvPr/>
        </p:nvSpPr>
        <p:spPr>
          <a:xfrm>
            <a:off x="3948023" y="641231"/>
            <a:ext cx="33326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2F2F2"/>
                </a:solidFill>
                <a:latin typeface="OpenSans"/>
              </a:rPr>
              <a:t>       </a:t>
            </a:r>
            <a:r>
              <a:rPr lang="en-US" sz="2800" b="1" dirty="0">
                <a:solidFill>
                  <a:srgbClr val="F2F2F2"/>
                </a:solidFill>
                <a:latin typeface="OpenSans"/>
              </a:rPr>
              <a:t>Pintura </a:t>
            </a:r>
            <a:r>
              <a:rPr lang="en-US" sz="2800" b="1" dirty="0" err="1">
                <a:solidFill>
                  <a:srgbClr val="F2F2F2"/>
                </a:solidFill>
                <a:latin typeface="OpenSans"/>
              </a:rPr>
              <a:t>Egípcia</a:t>
            </a:r>
            <a:endParaRPr lang="en-US" sz="280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B935D2-C8F4-4425-805B-9A723E454B79}"/>
              </a:ext>
            </a:extLst>
          </p:cNvPr>
          <p:cNvSpPr/>
          <p:nvPr/>
        </p:nvSpPr>
        <p:spPr>
          <a:xfrm>
            <a:off x="290424" y="398253"/>
            <a:ext cx="11588148" cy="6110375"/>
          </a:xfrm>
          <a:prstGeom prst="rect">
            <a:avLst/>
          </a:prstGeom>
          <a:noFill/>
          <a:ln w="57150">
            <a:solidFill>
              <a:schemeClr val="accent2">
                <a:lumMod val="40000"/>
                <a:lumOff val="6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1588148"/>
                      <a:gd name="connsiteY0" fmla="*/ 0 h 6110375"/>
                      <a:gd name="connsiteX1" fmla="*/ 565774 w 11588148"/>
                      <a:gd name="connsiteY1" fmla="*/ 0 h 6110375"/>
                      <a:gd name="connsiteX2" fmla="*/ 1015667 w 11588148"/>
                      <a:gd name="connsiteY2" fmla="*/ 0 h 6110375"/>
                      <a:gd name="connsiteX3" fmla="*/ 1465560 w 11588148"/>
                      <a:gd name="connsiteY3" fmla="*/ 0 h 6110375"/>
                      <a:gd name="connsiteX4" fmla="*/ 1799571 w 11588148"/>
                      <a:gd name="connsiteY4" fmla="*/ 0 h 6110375"/>
                      <a:gd name="connsiteX5" fmla="*/ 2133583 w 11588148"/>
                      <a:gd name="connsiteY5" fmla="*/ 0 h 6110375"/>
                      <a:gd name="connsiteX6" fmla="*/ 2467594 w 11588148"/>
                      <a:gd name="connsiteY6" fmla="*/ 0 h 6110375"/>
                      <a:gd name="connsiteX7" fmla="*/ 3265131 w 11588148"/>
                      <a:gd name="connsiteY7" fmla="*/ 0 h 6110375"/>
                      <a:gd name="connsiteX8" fmla="*/ 3599142 w 11588148"/>
                      <a:gd name="connsiteY8" fmla="*/ 0 h 6110375"/>
                      <a:gd name="connsiteX9" fmla="*/ 4049035 w 11588148"/>
                      <a:gd name="connsiteY9" fmla="*/ 0 h 6110375"/>
                      <a:gd name="connsiteX10" fmla="*/ 4498928 w 11588148"/>
                      <a:gd name="connsiteY10" fmla="*/ 0 h 6110375"/>
                      <a:gd name="connsiteX11" fmla="*/ 5412347 w 11588148"/>
                      <a:gd name="connsiteY11" fmla="*/ 0 h 6110375"/>
                      <a:gd name="connsiteX12" fmla="*/ 5746358 w 11588148"/>
                      <a:gd name="connsiteY12" fmla="*/ 0 h 6110375"/>
                      <a:gd name="connsiteX13" fmla="*/ 6080369 w 11588148"/>
                      <a:gd name="connsiteY13" fmla="*/ 0 h 6110375"/>
                      <a:gd name="connsiteX14" fmla="*/ 6993788 w 11588148"/>
                      <a:gd name="connsiteY14" fmla="*/ 0 h 6110375"/>
                      <a:gd name="connsiteX15" fmla="*/ 7443681 w 11588148"/>
                      <a:gd name="connsiteY15" fmla="*/ 0 h 6110375"/>
                      <a:gd name="connsiteX16" fmla="*/ 8009455 w 11588148"/>
                      <a:gd name="connsiteY16" fmla="*/ 0 h 6110375"/>
                      <a:gd name="connsiteX17" fmla="*/ 8922874 w 11588148"/>
                      <a:gd name="connsiteY17" fmla="*/ 0 h 6110375"/>
                      <a:gd name="connsiteX18" fmla="*/ 9720411 w 11588148"/>
                      <a:gd name="connsiteY18" fmla="*/ 0 h 6110375"/>
                      <a:gd name="connsiteX19" fmla="*/ 10633830 w 11588148"/>
                      <a:gd name="connsiteY19" fmla="*/ 0 h 6110375"/>
                      <a:gd name="connsiteX20" fmla="*/ 10967841 w 11588148"/>
                      <a:gd name="connsiteY20" fmla="*/ 0 h 6110375"/>
                      <a:gd name="connsiteX21" fmla="*/ 11588148 w 11588148"/>
                      <a:gd name="connsiteY21" fmla="*/ 0 h 6110375"/>
                      <a:gd name="connsiteX22" fmla="*/ 11588148 w 11588148"/>
                      <a:gd name="connsiteY22" fmla="*/ 495619 h 6110375"/>
                      <a:gd name="connsiteX23" fmla="*/ 11588148 w 11588148"/>
                      <a:gd name="connsiteY23" fmla="*/ 1113446 h 6110375"/>
                      <a:gd name="connsiteX24" fmla="*/ 11588148 w 11588148"/>
                      <a:gd name="connsiteY24" fmla="*/ 1914584 h 6110375"/>
                      <a:gd name="connsiteX25" fmla="*/ 11588148 w 11588148"/>
                      <a:gd name="connsiteY25" fmla="*/ 2593515 h 6110375"/>
                      <a:gd name="connsiteX26" fmla="*/ 11588148 w 11588148"/>
                      <a:gd name="connsiteY26" fmla="*/ 3272445 h 6110375"/>
                      <a:gd name="connsiteX27" fmla="*/ 11588148 w 11588148"/>
                      <a:gd name="connsiteY27" fmla="*/ 3768065 h 6110375"/>
                      <a:gd name="connsiteX28" fmla="*/ 11588148 w 11588148"/>
                      <a:gd name="connsiteY28" fmla="*/ 4446995 h 6110375"/>
                      <a:gd name="connsiteX29" fmla="*/ 11588148 w 11588148"/>
                      <a:gd name="connsiteY29" fmla="*/ 5003718 h 6110375"/>
                      <a:gd name="connsiteX30" fmla="*/ 11588148 w 11588148"/>
                      <a:gd name="connsiteY30" fmla="*/ 6110375 h 6110375"/>
                      <a:gd name="connsiteX31" fmla="*/ 10790611 w 11588148"/>
                      <a:gd name="connsiteY31" fmla="*/ 6110375 h 6110375"/>
                      <a:gd name="connsiteX32" fmla="*/ 10456599 w 11588148"/>
                      <a:gd name="connsiteY32" fmla="*/ 6110375 h 6110375"/>
                      <a:gd name="connsiteX33" fmla="*/ 9890825 w 11588148"/>
                      <a:gd name="connsiteY33" fmla="*/ 6110375 h 6110375"/>
                      <a:gd name="connsiteX34" fmla="*/ 9556814 w 11588148"/>
                      <a:gd name="connsiteY34" fmla="*/ 6110375 h 6110375"/>
                      <a:gd name="connsiteX35" fmla="*/ 9222802 w 11588148"/>
                      <a:gd name="connsiteY35" fmla="*/ 6110375 h 6110375"/>
                      <a:gd name="connsiteX36" fmla="*/ 8425265 w 11588148"/>
                      <a:gd name="connsiteY36" fmla="*/ 6110375 h 6110375"/>
                      <a:gd name="connsiteX37" fmla="*/ 7627728 w 11588148"/>
                      <a:gd name="connsiteY37" fmla="*/ 6110375 h 6110375"/>
                      <a:gd name="connsiteX38" fmla="*/ 6714309 w 11588148"/>
                      <a:gd name="connsiteY38" fmla="*/ 6110375 h 6110375"/>
                      <a:gd name="connsiteX39" fmla="*/ 6032654 w 11588148"/>
                      <a:gd name="connsiteY39" fmla="*/ 6110375 h 6110375"/>
                      <a:gd name="connsiteX40" fmla="*/ 5582761 w 11588148"/>
                      <a:gd name="connsiteY40" fmla="*/ 6110375 h 6110375"/>
                      <a:gd name="connsiteX41" fmla="*/ 4785223 w 11588148"/>
                      <a:gd name="connsiteY41" fmla="*/ 6110375 h 6110375"/>
                      <a:gd name="connsiteX42" fmla="*/ 3871805 w 11588148"/>
                      <a:gd name="connsiteY42" fmla="*/ 6110375 h 6110375"/>
                      <a:gd name="connsiteX43" fmla="*/ 3074267 w 11588148"/>
                      <a:gd name="connsiteY43" fmla="*/ 6110375 h 6110375"/>
                      <a:gd name="connsiteX44" fmla="*/ 2740256 w 11588148"/>
                      <a:gd name="connsiteY44" fmla="*/ 6110375 h 6110375"/>
                      <a:gd name="connsiteX45" fmla="*/ 2406245 w 11588148"/>
                      <a:gd name="connsiteY45" fmla="*/ 6110375 h 6110375"/>
                      <a:gd name="connsiteX46" fmla="*/ 2072234 w 11588148"/>
                      <a:gd name="connsiteY46" fmla="*/ 6110375 h 6110375"/>
                      <a:gd name="connsiteX47" fmla="*/ 1390578 w 11588148"/>
                      <a:gd name="connsiteY47" fmla="*/ 6110375 h 6110375"/>
                      <a:gd name="connsiteX48" fmla="*/ 0 w 11588148"/>
                      <a:gd name="connsiteY48" fmla="*/ 6110375 h 6110375"/>
                      <a:gd name="connsiteX49" fmla="*/ 0 w 11588148"/>
                      <a:gd name="connsiteY49" fmla="*/ 5553652 h 6110375"/>
                      <a:gd name="connsiteX50" fmla="*/ 0 w 11588148"/>
                      <a:gd name="connsiteY50" fmla="*/ 5058033 h 6110375"/>
                      <a:gd name="connsiteX51" fmla="*/ 0 w 11588148"/>
                      <a:gd name="connsiteY51" fmla="*/ 4317998 h 6110375"/>
                      <a:gd name="connsiteX52" fmla="*/ 0 w 11588148"/>
                      <a:gd name="connsiteY52" fmla="*/ 3577964 h 6110375"/>
                      <a:gd name="connsiteX53" fmla="*/ 0 w 11588148"/>
                      <a:gd name="connsiteY53" fmla="*/ 2899033 h 6110375"/>
                      <a:gd name="connsiteX54" fmla="*/ 0 w 11588148"/>
                      <a:gd name="connsiteY54" fmla="*/ 2342310 h 6110375"/>
                      <a:gd name="connsiteX55" fmla="*/ 0 w 11588148"/>
                      <a:gd name="connsiteY55" fmla="*/ 1602276 h 6110375"/>
                      <a:gd name="connsiteX56" fmla="*/ 0 w 11588148"/>
                      <a:gd name="connsiteY56" fmla="*/ 984449 h 6110375"/>
                      <a:gd name="connsiteX57" fmla="*/ 0 w 11588148"/>
                      <a:gd name="connsiteY57" fmla="*/ 0 h 61103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</a:cxnLst>
                    <a:rect l="l" t="t" r="r" b="b"/>
                    <a:pathLst>
                      <a:path w="11588148" h="6110375" extrusionOk="0">
                        <a:moveTo>
                          <a:pt x="0" y="0"/>
                        </a:moveTo>
                        <a:cubicBezTo>
                          <a:pt x="142884" y="-11139"/>
                          <a:pt x="444843" y="-23487"/>
                          <a:pt x="565774" y="0"/>
                        </a:cubicBezTo>
                        <a:cubicBezTo>
                          <a:pt x="686705" y="23487"/>
                          <a:pt x="861658" y="-4239"/>
                          <a:pt x="1015667" y="0"/>
                        </a:cubicBezTo>
                        <a:cubicBezTo>
                          <a:pt x="1169676" y="4239"/>
                          <a:pt x="1254868" y="12897"/>
                          <a:pt x="1465560" y="0"/>
                        </a:cubicBezTo>
                        <a:cubicBezTo>
                          <a:pt x="1676252" y="-12897"/>
                          <a:pt x="1731473" y="-11606"/>
                          <a:pt x="1799571" y="0"/>
                        </a:cubicBezTo>
                        <a:cubicBezTo>
                          <a:pt x="1867669" y="11606"/>
                          <a:pt x="2003656" y="5789"/>
                          <a:pt x="2133583" y="0"/>
                        </a:cubicBezTo>
                        <a:cubicBezTo>
                          <a:pt x="2263510" y="-5789"/>
                          <a:pt x="2329789" y="4242"/>
                          <a:pt x="2467594" y="0"/>
                        </a:cubicBezTo>
                        <a:cubicBezTo>
                          <a:pt x="2605399" y="-4242"/>
                          <a:pt x="3038668" y="10302"/>
                          <a:pt x="3265131" y="0"/>
                        </a:cubicBezTo>
                        <a:cubicBezTo>
                          <a:pt x="3491594" y="-10302"/>
                          <a:pt x="3468560" y="3578"/>
                          <a:pt x="3599142" y="0"/>
                        </a:cubicBezTo>
                        <a:cubicBezTo>
                          <a:pt x="3729724" y="-3578"/>
                          <a:pt x="3899676" y="16183"/>
                          <a:pt x="4049035" y="0"/>
                        </a:cubicBezTo>
                        <a:cubicBezTo>
                          <a:pt x="4198394" y="-16183"/>
                          <a:pt x="4276157" y="-22463"/>
                          <a:pt x="4498928" y="0"/>
                        </a:cubicBezTo>
                        <a:cubicBezTo>
                          <a:pt x="4721699" y="22463"/>
                          <a:pt x="5118129" y="22155"/>
                          <a:pt x="5412347" y="0"/>
                        </a:cubicBezTo>
                        <a:cubicBezTo>
                          <a:pt x="5706565" y="-22155"/>
                          <a:pt x="5634610" y="-9143"/>
                          <a:pt x="5746358" y="0"/>
                        </a:cubicBezTo>
                        <a:cubicBezTo>
                          <a:pt x="5858106" y="9143"/>
                          <a:pt x="5995223" y="-8252"/>
                          <a:pt x="6080369" y="0"/>
                        </a:cubicBezTo>
                        <a:cubicBezTo>
                          <a:pt x="6165515" y="8252"/>
                          <a:pt x="6718521" y="-37874"/>
                          <a:pt x="6993788" y="0"/>
                        </a:cubicBezTo>
                        <a:cubicBezTo>
                          <a:pt x="7269055" y="37874"/>
                          <a:pt x="7269265" y="14383"/>
                          <a:pt x="7443681" y="0"/>
                        </a:cubicBezTo>
                        <a:cubicBezTo>
                          <a:pt x="7618097" y="-14383"/>
                          <a:pt x="7754230" y="-4856"/>
                          <a:pt x="8009455" y="0"/>
                        </a:cubicBezTo>
                        <a:cubicBezTo>
                          <a:pt x="8264680" y="4856"/>
                          <a:pt x="8579925" y="-7226"/>
                          <a:pt x="8922874" y="0"/>
                        </a:cubicBezTo>
                        <a:cubicBezTo>
                          <a:pt x="9265823" y="7226"/>
                          <a:pt x="9413151" y="-14277"/>
                          <a:pt x="9720411" y="0"/>
                        </a:cubicBezTo>
                        <a:cubicBezTo>
                          <a:pt x="10027671" y="14277"/>
                          <a:pt x="10443523" y="-45175"/>
                          <a:pt x="10633830" y="0"/>
                        </a:cubicBezTo>
                        <a:cubicBezTo>
                          <a:pt x="10824137" y="45175"/>
                          <a:pt x="10845427" y="-1822"/>
                          <a:pt x="10967841" y="0"/>
                        </a:cubicBezTo>
                        <a:cubicBezTo>
                          <a:pt x="11090255" y="1822"/>
                          <a:pt x="11341608" y="14860"/>
                          <a:pt x="11588148" y="0"/>
                        </a:cubicBezTo>
                        <a:cubicBezTo>
                          <a:pt x="11596651" y="141751"/>
                          <a:pt x="11574246" y="377813"/>
                          <a:pt x="11588148" y="495619"/>
                        </a:cubicBezTo>
                        <a:cubicBezTo>
                          <a:pt x="11602050" y="613425"/>
                          <a:pt x="11593593" y="881920"/>
                          <a:pt x="11588148" y="1113446"/>
                        </a:cubicBezTo>
                        <a:cubicBezTo>
                          <a:pt x="11582703" y="1344972"/>
                          <a:pt x="11561603" y="1576180"/>
                          <a:pt x="11588148" y="1914584"/>
                        </a:cubicBezTo>
                        <a:cubicBezTo>
                          <a:pt x="11614694" y="2252988"/>
                          <a:pt x="11592514" y="2299450"/>
                          <a:pt x="11588148" y="2593515"/>
                        </a:cubicBezTo>
                        <a:cubicBezTo>
                          <a:pt x="11583782" y="2887580"/>
                          <a:pt x="11554692" y="3023339"/>
                          <a:pt x="11588148" y="3272445"/>
                        </a:cubicBezTo>
                        <a:cubicBezTo>
                          <a:pt x="11621605" y="3521551"/>
                          <a:pt x="11599432" y="3592765"/>
                          <a:pt x="11588148" y="3768065"/>
                        </a:cubicBezTo>
                        <a:cubicBezTo>
                          <a:pt x="11576864" y="3943365"/>
                          <a:pt x="11576301" y="4188024"/>
                          <a:pt x="11588148" y="4446995"/>
                        </a:cubicBezTo>
                        <a:cubicBezTo>
                          <a:pt x="11599996" y="4705966"/>
                          <a:pt x="11594056" y="4726389"/>
                          <a:pt x="11588148" y="5003718"/>
                        </a:cubicBezTo>
                        <a:cubicBezTo>
                          <a:pt x="11582240" y="5281047"/>
                          <a:pt x="11615588" y="5706181"/>
                          <a:pt x="11588148" y="6110375"/>
                        </a:cubicBezTo>
                        <a:cubicBezTo>
                          <a:pt x="11299156" y="6082588"/>
                          <a:pt x="10983480" y="6078963"/>
                          <a:pt x="10790611" y="6110375"/>
                        </a:cubicBezTo>
                        <a:cubicBezTo>
                          <a:pt x="10597742" y="6141787"/>
                          <a:pt x="10584878" y="6105776"/>
                          <a:pt x="10456599" y="6110375"/>
                        </a:cubicBezTo>
                        <a:cubicBezTo>
                          <a:pt x="10328320" y="6114974"/>
                          <a:pt x="10113442" y="6113025"/>
                          <a:pt x="9890825" y="6110375"/>
                        </a:cubicBezTo>
                        <a:cubicBezTo>
                          <a:pt x="9668208" y="6107725"/>
                          <a:pt x="9669424" y="6113613"/>
                          <a:pt x="9556814" y="6110375"/>
                        </a:cubicBezTo>
                        <a:cubicBezTo>
                          <a:pt x="9444204" y="6107137"/>
                          <a:pt x="9319494" y="6112736"/>
                          <a:pt x="9222802" y="6110375"/>
                        </a:cubicBezTo>
                        <a:cubicBezTo>
                          <a:pt x="9126110" y="6108014"/>
                          <a:pt x="8812150" y="6149551"/>
                          <a:pt x="8425265" y="6110375"/>
                        </a:cubicBezTo>
                        <a:cubicBezTo>
                          <a:pt x="8038380" y="6071199"/>
                          <a:pt x="7832735" y="6140481"/>
                          <a:pt x="7627728" y="6110375"/>
                        </a:cubicBezTo>
                        <a:cubicBezTo>
                          <a:pt x="7422721" y="6080269"/>
                          <a:pt x="7164154" y="6078703"/>
                          <a:pt x="6714309" y="6110375"/>
                        </a:cubicBezTo>
                        <a:cubicBezTo>
                          <a:pt x="6264464" y="6142047"/>
                          <a:pt x="6353162" y="6121610"/>
                          <a:pt x="6032654" y="6110375"/>
                        </a:cubicBezTo>
                        <a:cubicBezTo>
                          <a:pt x="5712147" y="6099140"/>
                          <a:pt x="5787345" y="6126815"/>
                          <a:pt x="5582761" y="6110375"/>
                        </a:cubicBezTo>
                        <a:cubicBezTo>
                          <a:pt x="5378177" y="6093935"/>
                          <a:pt x="5165616" y="6106838"/>
                          <a:pt x="4785223" y="6110375"/>
                        </a:cubicBezTo>
                        <a:cubicBezTo>
                          <a:pt x="4404830" y="6113912"/>
                          <a:pt x="4319813" y="6069071"/>
                          <a:pt x="3871805" y="6110375"/>
                        </a:cubicBezTo>
                        <a:cubicBezTo>
                          <a:pt x="3423797" y="6151679"/>
                          <a:pt x="3331093" y="6139487"/>
                          <a:pt x="3074267" y="6110375"/>
                        </a:cubicBezTo>
                        <a:cubicBezTo>
                          <a:pt x="2817441" y="6081263"/>
                          <a:pt x="2835532" y="6113005"/>
                          <a:pt x="2740256" y="6110375"/>
                        </a:cubicBezTo>
                        <a:cubicBezTo>
                          <a:pt x="2644980" y="6107745"/>
                          <a:pt x="2559760" y="6097391"/>
                          <a:pt x="2406245" y="6110375"/>
                        </a:cubicBezTo>
                        <a:cubicBezTo>
                          <a:pt x="2252730" y="6123359"/>
                          <a:pt x="2140438" y="6123869"/>
                          <a:pt x="2072234" y="6110375"/>
                        </a:cubicBezTo>
                        <a:cubicBezTo>
                          <a:pt x="2004030" y="6096881"/>
                          <a:pt x="1593629" y="6098138"/>
                          <a:pt x="1390578" y="6110375"/>
                        </a:cubicBezTo>
                        <a:cubicBezTo>
                          <a:pt x="1187527" y="6122612"/>
                          <a:pt x="625445" y="6042433"/>
                          <a:pt x="0" y="6110375"/>
                        </a:cubicBezTo>
                        <a:cubicBezTo>
                          <a:pt x="-22398" y="5995932"/>
                          <a:pt x="-9926" y="5671247"/>
                          <a:pt x="0" y="5553652"/>
                        </a:cubicBezTo>
                        <a:cubicBezTo>
                          <a:pt x="9926" y="5436057"/>
                          <a:pt x="24635" y="5215141"/>
                          <a:pt x="0" y="5058033"/>
                        </a:cubicBezTo>
                        <a:cubicBezTo>
                          <a:pt x="-24635" y="4900925"/>
                          <a:pt x="22453" y="4630034"/>
                          <a:pt x="0" y="4317998"/>
                        </a:cubicBezTo>
                        <a:cubicBezTo>
                          <a:pt x="-22453" y="4005963"/>
                          <a:pt x="-15725" y="3930824"/>
                          <a:pt x="0" y="3577964"/>
                        </a:cubicBezTo>
                        <a:cubicBezTo>
                          <a:pt x="15725" y="3225104"/>
                          <a:pt x="16707" y="3120369"/>
                          <a:pt x="0" y="2899033"/>
                        </a:cubicBezTo>
                        <a:cubicBezTo>
                          <a:pt x="-16707" y="2677697"/>
                          <a:pt x="-4557" y="2568697"/>
                          <a:pt x="0" y="2342310"/>
                        </a:cubicBezTo>
                        <a:cubicBezTo>
                          <a:pt x="4557" y="2115923"/>
                          <a:pt x="4967" y="1868578"/>
                          <a:pt x="0" y="1602276"/>
                        </a:cubicBezTo>
                        <a:cubicBezTo>
                          <a:pt x="-4967" y="1335974"/>
                          <a:pt x="2502" y="1141976"/>
                          <a:pt x="0" y="984449"/>
                        </a:cubicBezTo>
                        <a:cubicBezTo>
                          <a:pt x="-2502" y="826922"/>
                          <a:pt x="-8756" y="47355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52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 descr="Uma imagem contendo edifício, foto, em pé, frente&#10;&#10;Descrição gerada automaticamente">
            <a:extLst>
              <a:ext uri="{FF2B5EF4-FFF2-40B4-BE49-F238E27FC236}">
                <a16:creationId xmlns:a16="http://schemas.microsoft.com/office/drawing/2014/main" id="{F7165406-E3F0-464E-8F4B-69FC5F290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7888" y="1360968"/>
            <a:ext cx="5195978" cy="4110185"/>
          </a:xfr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D567E7C-FA8F-4125-BA50-0F9714C6C347}"/>
              </a:ext>
            </a:extLst>
          </p:cNvPr>
          <p:cNvSpPr txBox="1"/>
          <p:nvPr/>
        </p:nvSpPr>
        <p:spPr>
          <a:xfrm>
            <a:off x="4178061" y="497457"/>
            <a:ext cx="37496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800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Egípcia</a:t>
            </a:r>
            <a:endParaRPr lang="en-US" sz="2000" b="1">
              <a:solidFill>
                <a:schemeClr val="tx1">
                  <a:lumMod val="95000"/>
                </a:schemeClr>
              </a:solidFill>
              <a:latin typeface="OpenSan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E70D02D-0191-4006-8A33-51D519EFAD49}"/>
              </a:ext>
            </a:extLst>
          </p:cNvPr>
          <p:cNvSpPr txBox="1"/>
          <p:nvPr/>
        </p:nvSpPr>
        <p:spPr>
          <a:xfrm>
            <a:off x="612475" y="1963947"/>
            <a:ext cx="27432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maior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parte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das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Egito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Antigo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são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representações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dos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faraós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dos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deuses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apresentados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formas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frontais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estáticas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sem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qualquer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expr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essão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facial</a:t>
            </a:r>
            <a:r>
              <a:rPr lang="en-US" dirty="0">
                <a:solidFill>
                  <a:srgbClr val="404040"/>
                </a:solidFill>
                <a:latin typeface="OpenSans"/>
              </a:rPr>
              <a:t>.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B9F15C9-A013-4190-8C3C-0B66B7EC3496}"/>
              </a:ext>
            </a:extLst>
          </p:cNvPr>
          <p:cNvSpPr txBox="1"/>
          <p:nvPr/>
        </p:nvSpPr>
        <p:spPr>
          <a:xfrm>
            <a:off x="8635041" y="2265872"/>
            <a:ext cx="316014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Características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 </a:t>
            </a: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Egípcia</a:t>
            </a:r>
            <a:endParaRPr lang="en-US" b="1">
              <a:solidFill>
                <a:schemeClr val="tx1">
                  <a:lumMod val="95000"/>
                </a:schemeClr>
              </a:solidFill>
              <a:latin typeface="OpenSans"/>
            </a:endParaRPr>
          </a:p>
          <a:p>
            <a:pPr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Formas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estáticas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Formas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expressão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facial;</a:t>
            </a:r>
          </a:p>
          <a:p>
            <a:pPr>
              <a:buChar char="•"/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Seguimento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convenção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: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pé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ou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sentado</a:t>
            </a:r>
            <a:endParaRPr lang="en-US" dirty="0">
              <a:solidFill>
                <a:schemeClr val="tx1">
                  <a:lumMod val="95000"/>
                </a:schemeClr>
              </a:solidFill>
              <a:latin typeface="OpenSan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79D52E3-D09D-45CB-B555-3B9979470F0A}"/>
              </a:ext>
            </a:extLst>
          </p:cNvPr>
          <p:cNvSpPr/>
          <p:nvPr/>
        </p:nvSpPr>
        <p:spPr>
          <a:xfrm>
            <a:off x="405442" y="369499"/>
            <a:ext cx="11372489" cy="6110375"/>
          </a:xfrm>
          <a:prstGeom prst="rect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386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FFF3F5D-2266-4028-A553-A50BFEF88F03}"/>
              </a:ext>
            </a:extLst>
          </p:cNvPr>
          <p:cNvSpPr txBox="1"/>
          <p:nvPr/>
        </p:nvSpPr>
        <p:spPr>
          <a:xfrm>
            <a:off x="4206815" y="785004"/>
            <a:ext cx="37927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Arquitetura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Egípcia</a:t>
            </a:r>
            <a:endParaRPr lang="en-US" sz="2800" b="1">
              <a:solidFill>
                <a:schemeClr val="tx1">
                  <a:lumMod val="95000"/>
                </a:schemeClr>
              </a:solidFill>
              <a:latin typeface="OpenSans"/>
            </a:endParaRPr>
          </a:p>
        </p:txBody>
      </p:sp>
      <p:pic>
        <p:nvPicPr>
          <p:cNvPr id="3" name="Imagem 3" descr="Uma imagem contendo ao ar livre, montanha, água, rocha&#10;&#10;Descrição gerada automaticamente">
            <a:extLst>
              <a:ext uri="{FF2B5EF4-FFF2-40B4-BE49-F238E27FC236}">
                <a16:creationId xmlns:a16="http://schemas.microsoft.com/office/drawing/2014/main" id="{CE8D47FB-22E2-4024-983D-F5D1B832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00" y="1614742"/>
            <a:ext cx="4353462" cy="214764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739D2CE-B330-42CD-97E0-97C8DFB33D87}"/>
              </a:ext>
            </a:extLst>
          </p:cNvPr>
          <p:cNvSpPr txBox="1"/>
          <p:nvPr/>
        </p:nvSpPr>
        <p:spPr>
          <a:xfrm>
            <a:off x="3646098" y="4077419"/>
            <a:ext cx="489980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arquitetura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deste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período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reflete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 </a:t>
            </a: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funcionalidade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o que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lhe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conferia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solidez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durabilidades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incomparáveis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para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época</a:t>
            </a:r>
            <a:r>
              <a:rPr lang="en-US" dirty="0">
                <a:solidFill>
                  <a:srgbClr val="404040"/>
                </a:solidFill>
                <a:latin typeface="OpenSans"/>
              </a:rPr>
              <a:t>.</a:t>
            </a: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BA3101-C652-4B25-B44A-FFF0D14778F9}"/>
              </a:ext>
            </a:extLst>
          </p:cNvPr>
          <p:cNvSpPr txBox="1"/>
          <p:nvPr/>
        </p:nvSpPr>
        <p:spPr>
          <a:xfrm>
            <a:off x="540589" y="1848928"/>
            <a:ext cx="320327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95000"/>
                  </a:schemeClr>
                </a:solidFill>
                <a:latin typeface="OpenSans"/>
              </a:rPr>
              <a:t>Características da Arquitetura Egípcia</a:t>
            </a:r>
          </a:p>
          <a:p>
            <a:pPr>
              <a:buChar char="•"/>
            </a:pPr>
            <a:r>
              <a:rPr lang="en-US">
                <a:solidFill>
                  <a:schemeClr val="tx1">
                    <a:lumMod val="95000"/>
                  </a:schemeClr>
                </a:solidFill>
                <a:latin typeface="OpenSans"/>
              </a:rPr>
              <a:t>Solidez e durabilidade;</a:t>
            </a:r>
          </a:p>
          <a:p>
            <a:pPr>
              <a:buChar char="•"/>
            </a:pPr>
            <a:r>
              <a:rPr lang="en-US">
                <a:solidFill>
                  <a:schemeClr val="tx1">
                    <a:lumMod val="95000"/>
                  </a:schemeClr>
                </a:solidFill>
                <a:latin typeface="OpenSans"/>
              </a:rPr>
              <a:t>Sentimento de eternidade;</a:t>
            </a:r>
          </a:p>
          <a:p>
            <a:pPr>
              <a:buChar char="•"/>
            </a:pPr>
            <a:r>
              <a:rPr lang="en-US">
                <a:solidFill>
                  <a:schemeClr val="tx1">
                    <a:lumMod val="95000"/>
                  </a:schemeClr>
                </a:solidFill>
                <a:latin typeface="OpenSans"/>
              </a:rPr>
              <a:t>Aspecto misterioso e impenetrável;</a:t>
            </a:r>
          </a:p>
          <a:p>
            <a:pPr>
              <a:buChar char="•"/>
            </a:pPr>
            <a:r>
              <a:rPr lang="en-US">
                <a:solidFill>
                  <a:schemeClr val="tx1">
                    <a:lumMod val="95000"/>
                  </a:schemeClr>
                </a:solidFill>
                <a:latin typeface="OpenSans"/>
              </a:rPr>
              <a:t>Imobilidade solene.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B4934C-9F6E-4BA6-96DE-23E3BF735CC0}"/>
              </a:ext>
            </a:extLst>
          </p:cNvPr>
          <p:cNvSpPr txBox="1"/>
          <p:nvPr/>
        </p:nvSpPr>
        <p:spPr>
          <a:xfrm>
            <a:off x="8318739" y="1820173"/>
            <a:ext cx="274320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95000"/>
                  </a:schemeClr>
                </a:solidFill>
                <a:latin typeface="OpenSans"/>
              </a:rPr>
              <a:t>As pirâmides do deserto de Gizé são as obras arquitetônicas mais famosas da arquitetura egípcia. É também na região de Gizé que se localiza a esfinge mais famosa, a Grande Esfinge de Gizé.</a:t>
            </a:r>
            <a:endParaRPr lang="en-US" sz="16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94929C-1633-479C-AD38-49337BD4A90F}"/>
              </a:ext>
            </a:extLst>
          </p:cNvPr>
          <p:cNvSpPr/>
          <p:nvPr/>
        </p:nvSpPr>
        <p:spPr>
          <a:xfrm>
            <a:off x="347933" y="369499"/>
            <a:ext cx="11501884" cy="6211017"/>
          </a:xfrm>
          <a:prstGeom prst="rect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41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41E22D-2F17-48A3-B325-4D24A8C33C79}"/>
              </a:ext>
            </a:extLst>
          </p:cNvPr>
          <p:cNvSpPr txBox="1"/>
          <p:nvPr/>
        </p:nvSpPr>
        <p:spPr>
          <a:xfrm>
            <a:off x="4652513" y="756249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Arte Grega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C10372-120A-43BA-BEE0-DF67E5F71AC3}"/>
              </a:ext>
            </a:extLst>
          </p:cNvPr>
          <p:cNvSpPr txBox="1"/>
          <p:nvPr/>
        </p:nvSpPr>
        <p:spPr>
          <a:xfrm>
            <a:off x="1158816" y="2625305"/>
            <a:ext cx="3792747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 </a:t>
            </a:r>
            <a:r>
              <a:rPr lang="en-US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 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abarca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todas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as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manifestações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artísticas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revela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história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a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estética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mesmo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filosofia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desta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civilizaçã</a:t>
            </a:r>
            <a:r>
              <a:rPr lang="en-US" sz="20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sz="20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61FDD5-7031-41D4-A526-7BAD2CAC1F34}"/>
              </a:ext>
            </a:extLst>
          </p:cNvPr>
          <p:cNvSpPr txBox="1"/>
          <p:nvPr/>
        </p:nvSpPr>
        <p:spPr>
          <a:xfrm>
            <a:off x="6837873" y="4264324"/>
            <a:ext cx="429595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passou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pelos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períodos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arcaico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clássico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helenístico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cada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uma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dessas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fases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históricas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influenciou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elaboração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obras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5" name="Imagem 5" descr="Uma imagem contendo homem, pessoa, edifício, olhando&#10;&#10;Descrição gerada automaticamente">
            <a:extLst>
              <a:ext uri="{FF2B5EF4-FFF2-40B4-BE49-F238E27FC236}">
                <a16:creationId xmlns:a16="http://schemas.microsoft.com/office/drawing/2014/main" id="{E3CF7CCC-762E-40C3-BDDE-BA01225D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853" y="1710205"/>
            <a:ext cx="4137803" cy="243117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9270753-02AF-46E2-AF60-14C3F2D107CE}"/>
              </a:ext>
            </a:extLst>
          </p:cNvPr>
          <p:cNvSpPr txBox="1"/>
          <p:nvPr/>
        </p:nvSpPr>
        <p:spPr>
          <a:xfrm>
            <a:off x="1158815" y="4134928"/>
            <a:ext cx="423844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Características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 </a:t>
            </a:r>
            <a:r>
              <a:rPr lang="en-US" sz="1600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Grega</a:t>
            </a:r>
          </a:p>
          <a:p>
            <a:pPr>
              <a:buChar char="•"/>
            </a:pP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Simetria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Perfeição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Obras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realizadas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partir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modelos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vivos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Uso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religioso,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doméstico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ou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funerário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Valorização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 ser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humano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</a:p>
        </p:txBody>
      </p:sp>
      <p:pic>
        <p:nvPicPr>
          <p:cNvPr id="7" name="Imagem 7" descr="Uma imagem contendo navio, mesa, no interior, pequeno&#10;&#10;Descrição gerada automaticamente">
            <a:extLst>
              <a:ext uri="{FF2B5EF4-FFF2-40B4-BE49-F238E27FC236}">
                <a16:creationId xmlns:a16="http://schemas.microsoft.com/office/drawing/2014/main" id="{003486A3-19A2-4ABC-BE2E-B8B0D05CD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15" y="970142"/>
            <a:ext cx="1823049" cy="146714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4E3320F-577F-4F55-876C-87DA7EA0509A}"/>
              </a:ext>
            </a:extLst>
          </p:cNvPr>
          <p:cNvSpPr/>
          <p:nvPr/>
        </p:nvSpPr>
        <p:spPr>
          <a:xfrm>
            <a:off x="362310" y="369499"/>
            <a:ext cx="11487507" cy="6124752"/>
          </a:xfrm>
          <a:prstGeom prst="rect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61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F6B894-6E2A-48B4-9625-D60C36ACB586}"/>
              </a:ext>
            </a:extLst>
          </p:cNvPr>
          <p:cNvSpPr txBox="1"/>
          <p:nvPr/>
        </p:nvSpPr>
        <p:spPr>
          <a:xfrm>
            <a:off x="4638136" y="669985"/>
            <a:ext cx="41090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 Grega</a:t>
            </a:r>
          </a:p>
        </p:txBody>
      </p:sp>
      <p:pic>
        <p:nvPicPr>
          <p:cNvPr id="3" name="Imagem 3" descr="Escultura de homem&#10;&#10;Descrição gerada automaticamente">
            <a:extLst>
              <a:ext uri="{FF2B5EF4-FFF2-40B4-BE49-F238E27FC236}">
                <a16:creationId xmlns:a16="http://schemas.microsoft.com/office/drawing/2014/main" id="{6A6A809C-E36F-430F-B9C8-BE1E397AB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98" y="1591984"/>
            <a:ext cx="2743200" cy="387531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9FB6968-FABE-4BC9-9774-C1B359A5C122}"/>
              </a:ext>
            </a:extLst>
          </p:cNvPr>
          <p:cNvSpPr txBox="1"/>
          <p:nvPr/>
        </p:nvSpPr>
        <p:spPr>
          <a:xfrm>
            <a:off x="713117" y="1431984"/>
            <a:ext cx="42240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se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manifesta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deuses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dos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atletas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cuja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perfeição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detalhes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corpos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tornam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excepcionais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nessa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manifestação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artística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1CDEFA-2AF6-4FED-A283-36FCDCFBFE00}"/>
              </a:ext>
            </a:extLst>
          </p:cNvPr>
          <p:cNvSpPr txBox="1"/>
          <p:nvPr/>
        </p:nvSpPr>
        <p:spPr>
          <a:xfrm>
            <a:off x="8016814" y="2510286"/>
            <a:ext cx="3160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chamada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 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kouros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 -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homem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jovem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 </a:t>
            </a: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korés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 -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mulher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jovem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eram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inicialmente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feitas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mármore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Encontravam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-se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numa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posição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rígida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simétrica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com 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objetivo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dar-lhes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equilíbrio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97C361-854C-49E1-A31A-7CA88271E150}"/>
              </a:ext>
            </a:extLst>
          </p:cNvPr>
          <p:cNvSpPr txBox="1"/>
          <p:nvPr/>
        </p:nvSpPr>
        <p:spPr>
          <a:xfrm>
            <a:off x="713117" y="4192437"/>
            <a:ext cx="422406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OpenSans"/>
              </a:rPr>
              <a:t>Com o tempo, as esculturas femininas que eram vestidas, passaram a se apresentar sem roupa. Da mesma forma, as estátuas não tinham grandes expressões faciais e passaram a retratar sentimentos.</a:t>
            </a:r>
          </a:p>
          <a:p>
            <a:pPr algn="ctr"/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0D9004-027D-4E2D-ACD6-5558760B6C23}"/>
              </a:ext>
            </a:extLst>
          </p:cNvPr>
          <p:cNvSpPr/>
          <p:nvPr/>
        </p:nvSpPr>
        <p:spPr>
          <a:xfrm>
            <a:off x="347933" y="412631"/>
            <a:ext cx="11473130" cy="6052865"/>
          </a:xfrm>
          <a:prstGeom prst="rect">
            <a:avLst/>
          </a:prstGeom>
          <a:noFill/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910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A235621-389A-4C88-AD3B-0E0859F87DB0}"/>
              </a:ext>
            </a:extLst>
          </p:cNvPr>
          <p:cNvSpPr txBox="1"/>
          <p:nvPr/>
        </p:nvSpPr>
        <p:spPr>
          <a:xfrm>
            <a:off x="4019909" y="856891"/>
            <a:ext cx="415218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Arquitetura</a:t>
            </a: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Grega</a:t>
            </a:r>
          </a:p>
        </p:txBody>
      </p:sp>
      <p:pic>
        <p:nvPicPr>
          <p:cNvPr id="3" name="Imagem 3" descr="Uma imagem contendo ao ar livre, edifício, em pé, ovelha&#10;&#10;Descrição gerada automaticamente">
            <a:extLst>
              <a:ext uri="{FF2B5EF4-FFF2-40B4-BE49-F238E27FC236}">
                <a16:creationId xmlns:a16="http://schemas.microsoft.com/office/drawing/2014/main" id="{5DB84D1E-E3AF-41D8-B1C3-6C9E6B03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137" y="1873616"/>
            <a:ext cx="3505198" cy="216186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E406895-6D32-4DD3-A03A-283C15639A94}"/>
              </a:ext>
            </a:extLst>
          </p:cNvPr>
          <p:cNvSpPr txBox="1"/>
          <p:nvPr/>
        </p:nvSpPr>
        <p:spPr>
          <a:xfrm>
            <a:off x="1043796" y="4479985"/>
            <a:ext cx="505795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grandes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templos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erguidos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pelos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tinham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o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propósito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prestar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culto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seus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deuses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 Uma das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suas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características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é 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utilização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das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colunas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simetria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entre a entrada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fundos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templo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5" name="Imagem 5" descr="Uma imagem contendo desenho, traçado&#10;&#10;Descrição gerada automaticamente">
            <a:extLst>
              <a:ext uri="{FF2B5EF4-FFF2-40B4-BE49-F238E27FC236}">
                <a16:creationId xmlns:a16="http://schemas.microsoft.com/office/drawing/2014/main" id="{2990E7B9-F055-4E90-979F-6982848D3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33" y="1618890"/>
            <a:ext cx="3936700" cy="218248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A5D4BBA-D70B-449F-A239-F42F1BB87655}"/>
              </a:ext>
            </a:extLst>
          </p:cNvPr>
          <p:cNvSpPr txBox="1"/>
          <p:nvPr/>
        </p:nvSpPr>
        <p:spPr>
          <a:xfrm>
            <a:off x="7470475" y="4120551"/>
            <a:ext cx="3749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Estilos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Arquitetônicos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b="1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Gregos</a:t>
            </a:r>
            <a:endParaRPr lang="en-US" b="1">
              <a:solidFill>
                <a:schemeClr val="tx1">
                  <a:lumMod val="95000"/>
                </a:schemeClr>
              </a:solidFill>
              <a:latin typeface="OpenSan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829E63D-571C-45AB-97DC-0030FD06165A}"/>
              </a:ext>
            </a:extLst>
          </p:cNvPr>
          <p:cNvSpPr txBox="1"/>
          <p:nvPr/>
        </p:nvSpPr>
        <p:spPr>
          <a:xfrm>
            <a:off x="7182928" y="4767532"/>
            <a:ext cx="43247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Coríntio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: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rico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detalhes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Dórico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: simples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maciço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representa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masculino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;</a:t>
            </a:r>
          </a:p>
          <a:p>
            <a:pPr>
              <a:buChar char="•"/>
            </a:pPr>
            <a:r>
              <a:rPr lang="en-US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Jônico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: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luxuoso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representa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feminino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E37B0A0-8010-4746-B1E5-6AEE9E927A6D}"/>
              </a:ext>
            </a:extLst>
          </p:cNvPr>
          <p:cNvSpPr/>
          <p:nvPr/>
        </p:nvSpPr>
        <p:spPr>
          <a:xfrm>
            <a:off x="419819" y="455763"/>
            <a:ext cx="11314980" cy="5923470"/>
          </a:xfrm>
          <a:prstGeom prst="rect">
            <a:avLst/>
          </a:prstGeom>
          <a:noFill/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33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E5353C-E9FA-4BE9-A5E0-D407E4E94B0D}"/>
              </a:ext>
            </a:extLst>
          </p:cNvPr>
          <p:cNvSpPr txBox="1"/>
          <p:nvPr/>
        </p:nvSpPr>
        <p:spPr>
          <a:xfrm>
            <a:off x="4091795" y="684362"/>
            <a:ext cx="36489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Pintura Romana</a:t>
            </a:r>
            <a:endParaRPr lang="en-US" sz="20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27C834C-8802-42D0-9D78-FE2A7C0FFD2B}"/>
              </a:ext>
            </a:extLst>
          </p:cNvPr>
          <p:cNvSpPr/>
          <p:nvPr/>
        </p:nvSpPr>
        <p:spPr>
          <a:xfrm>
            <a:off x="391065" y="412630"/>
            <a:ext cx="11401243" cy="6038489"/>
          </a:xfrm>
          <a:prstGeom prst="rect">
            <a:avLst/>
          </a:prstGeom>
          <a:noFill/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9" descr="Uma imagem contendo grama, em pé, homem, velho&#10;&#10;Descrição gerada automaticamente">
            <a:extLst>
              <a:ext uri="{FF2B5EF4-FFF2-40B4-BE49-F238E27FC236}">
                <a16:creationId xmlns:a16="http://schemas.microsoft.com/office/drawing/2014/main" id="{1BFC587E-F415-4FBB-8F0D-0C4F2A0A0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598" y="2002508"/>
            <a:ext cx="3242956" cy="234977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5987FC3-5E36-4BCC-871D-58B03684E20D}"/>
              </a:ext>
            </a:extLst>
          </p:cNvPr>
          <p:cNvSpPr txBox="1"/>
          <p:nvPr/>
        </p:nvSpPr>
        <p:spPr>
          <a:xfrm>
            <a:off x="8016816" y="2007079"/>
            <a:ext cx="35052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artistas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romanos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trabalharam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uma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grande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variedade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temas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como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acontecimentos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históricos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cotidianos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lendas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conquistas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militare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efígies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natureza-morta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7C4E92-45D3-45C3-A144-8EB88F82FF94}"/>
              </a:ext>
            </a:extLst>
          </p:cNvPr>
          <p:cNvSpPr txBox="1"/>
          <p:nvPr/>
        </p:nvSpPr>
        <p:spPr>
          <a:xfrm>
            <a:off x="856891" y="2007079"/>
            <a:ext cx="27432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As pinturas roman 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eram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realizadas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murais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(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afrescos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)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possuíam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tridimensionalidade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materiais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utilizados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variavam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metais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pó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vidros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pulverizados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substâncias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extraídas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moluscos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pó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madeira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até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seivas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árvores</a:t>
            </a:r>
            <a:r>
              <a:rPr lang="en-US" dirty="0">
                <a:solidFill>
                  <a:srgbClr val="404040"/>
                </a:solidFill>
                <a:latin typeface="OpenSan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909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4D4EB39-139D-44E6-BA79-B87DBB540BDC}"/>
              </a:ext>
            </a:extLst>
          </p:cNvPr>
          <p:cNvSpPr txBox="1"/>
          <p:nvPr/>
        </p:nvSpPr>
        <p:spPr>
          <a:xfrm>
            <a:off x="4278702" y="828136"/>
            <a:ext cx="5115463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Escultura Romana</a:t>
            </a:r>
            <a:endParaRPr lang="pt-BR" sz="2800"/>
          </a:p>
          <a:p>
            <a:endParaRPr lang="en-US" sz="2400" b="1" dirty="0">
              <a:solidFill>
                <a:schemeClr val="tx1">
                  <a:lumMod val="95000"/>
                </a:schemeClr>
              </a:solidFill>
              <a:latin typeface="OpenSans"/>
            </a:endParaRPr>
          </a:p>
        </p:txBody>
      </p:sp>
      <p:pic>
        <p:nvPicPr>
          <p:cNvPr id="3" name="Imagem 3" descr="Uma imagem contendo edifício, ao ar livre, em pé, lado&#10;&#10;Descrição gerada automaticamente">
            <a:extLst>
              <a:ext uri="{FF2B5EF4-FFF2-40B4-BE49-F238E27FC236}">
                <a16:creationId xmlns:a16="http://schemas.microsoft.com/office/drawing/2014/main" id="{2ABD6BF2-44FD-4FB9-8E19-FDA422E37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496" y="1725571"/>
            <a:ext cx="4684140" cy="248670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C07D35A-AEE5-4E13-B12A-683189D3AB1A}"/>
              </a:ext>
            </a:extLst>
          </p:cNvPr>
          <p:cNvSpPr txBox="1"/>
          <p:nvPr/>
        </p:nvSpPr>
        <p:spPr>
          <a:xfrm>
            <a:off x="3904891" y="4652514"/>
            <a:ext cx="46841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romana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eram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caráter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realista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posto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que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eles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representavam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o "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belo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", mas 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pessoas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retratadas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fidedignamente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9DCBCB-5AC7-4B29-BA8A-7000FA3F1492}"/>
              </a:ext>
            </a:extLst>
          </p:cNvPr>
          <p:cNvSpPr txBox="1"/>
          <p:nvPr/>
        </p:nvSpPr>
        <p:spPr>
          <a:xfrm>
            <a:off x="511834" y="1978325"/>
            <a:ext cx="294448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artistas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romanos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por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terem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intenso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contato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com a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arte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acabaram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sendo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influenciados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por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ela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também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Ocorreu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então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uma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junção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entre o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estilo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com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novas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concepções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romanas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436337-626D-4389-A1FA-0FE949E00C46}"/>
              </a:ext>
            </a:extLst>
          </p:cNvPr>
          <p:cNvSpPr txBox="1"/>
          <p:nvPr/>
        </p:nvSpPr>
        <p:spPr>
          <a:xfrm>
            <a:off x="8793192" y="1719532"/>
            <a:ext cx="2843841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As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esculturas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relevos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escultóricos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costumavam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adornar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prédios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públicos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privados.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Elas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primavam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pelo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realismo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ocupavam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espaços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especiais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obras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arquitetônicas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enriquecendo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complementando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-as.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AB0825D-44C3-403F-B9F9-ABA4A4921752}"/>
              </a:ext>
            </a:extLst>
          </p:cNvPr>
          <p:cNvSpPr/>
          <p:nvPr/>
        </p:nvSpPr>
        <p:spPr>
          <a:xfrm>
            <a:off x="290422" y="369499"/>
            <a:ext cx="11545017" cy="6095998"/>
          </a:xfrm>
          <a:prstGeom prst="rect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56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400FDE-7B83-4E2B-83CF-6A94EA394CAE}"/>
              </a:ext>
            </a:extLst>
          </p:cNvPr>
          <p:cNvSpPr txBox="1"/>
          <p:nvPr/>
        </p:nvSpPr>
        <p:spPr>
          <a:xfrm>
            <a:off x="4077418" y="698740"/>
            <a:ext cx="41090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Arquitetura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Romana</a:t>
            </a:r>
          </a:p>
        </p:txBody>
      </p:sp>
      <p:pic>
        <p:nvPicPr>
          <p:cNvPr id="3" name="Imagem 3" descr="Castelo na frente de um prédio&#10;&#10;Descrição gerada automaticamente">
            <a:extLst>
              <a:ext uri="{FF2B5EF4-FFF2-40B4-BE49-F238E27FC236}">
                <a16:creationId xmlns:a16="http://schemas.microsoft.com/office/drawing/2014/main" id="{52931B3B-7E8D-41DF-BBD9-DFF3FD6D0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873" y="1871973"/>
            <a:ext cx="4396594" cy="248144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2E3879-FAAE-4419-8F88-AC7B83C15F5A}"/>
              </a:ext>
            </a:extLst>
          </p:cNvPr>
          <p:cNvSpPr txBox="1"/>
          <p:nvPr/>
        </p:nvSpPr>
        <p:spPr>
          <a:xfrm>
            <a:off x="799381" y="1719532"/>
            <a:ext cx="27432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Na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arquitetura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romana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destaque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construção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portais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aquedutos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prédios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monumentos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templos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Eles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foram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erigidos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com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praticidade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inovação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como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no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caso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uso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arco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da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abóbada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construções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9EB787-44F2-4BB5-870B-2DEC004DB989}"/>
              </a:ext>
            </a:extLst>
          </p:cNvPr>
          <p:cNvSpPr txBox="1"/>
          <p:nvPr/>
        </p:nvSpPr>
        <p:spPr>
          <a:xfrm>
            <a:off x="3789872" y="4681268"/>
            <a:ext cx="448285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Essas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estruturas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amorteceram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o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emprego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das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colunas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acrescentaram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espaços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internos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D635E6-6041-41D7-93B5-A578D45793DB}"/>
              </a:ext>
            </a:extLst>
          </p:cNvPr>
          <p:cNvSpPr txBox="1"/>
          <p:nvPr/>
        </p:nvSpPr>
        <p:spPr>
          <a:xfrm>
            <a:off x="8692551" y="1719532"/>
            <a:ext cx="27432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templos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romanos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por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sua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vez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partem da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fusão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elementos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gregos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etruscos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.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Possuem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planta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retangular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teto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de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duas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águas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vestíbulo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profundo com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colunas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livres 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uma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escada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na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frente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OpenSans"/>
              </a:rPr>
              <a:t>dando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OpenSans"/>
              </a:rPr>
              <a:t> entrada à base.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1BF5D3-6631-4286-8C3D-30EE10B2EE54}"/>
              </a:ext>
            </a:extLst>
          </p:cNvPr>
          <p:cNvSpPr/>
          <p:nvPr/>
        </p:nvSpPr>
        <p:spPr>
          <a:xfrm>
            <a:off x="434196" y="498896"/>
            <a:ext cx="11300601" cy="5952224"/>
          </a:xfrm>
          <a:prstGeom prst="rect">
            <a:avLst/>
          </a:prstGeom>
          <a:noFill/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638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Mesh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665</cp:revision>
  <dcterms:created xsi:type="dcterms:W3CDTF">2020-07-13T19:14:23Z</dcterms:created>
  <dcterms:modified xsi:type="dcterms:W3CDTF">2026-03-19T15:04:53Z</dcterms:modified>
</cp:coreProperties>
</file>